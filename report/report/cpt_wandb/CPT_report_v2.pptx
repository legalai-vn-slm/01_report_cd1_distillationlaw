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102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LoRA (bf16)</c:v>
                </c:pt>
              </c:strCache>
            </c:strRef>
          </c:tx>
          <c:spPr>
            <a:ln w="3175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strRef>
              <c:f>Sheet1!$A$2:$A$23</c:f>
              <c:strCache>
                <c:ptCount val="22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100</c:v>
                </c:pt>
                <c:pt idx="5">
                  <c:v>120</c:v>
                </c:pt>
                <c:pt idx="6">
                  <c:v>140</c:v>
                </c:pt>
                <c:pt idx="7">
                  <c:v>160</c:v>
                </c:pt>
                <c:pt idx="8">
                  <c:v>180</c:v>
                </c:pt>
                <c:pt idx="9">
                  <c:v>200</c:v>
                </c:pt>
                <c:pt idx="10">
                  <c:v>220</c:v>
                </c:pt>
                <c:pt idx="11">
                  <c:v>240</c:v>
                </c:pt>
                <c:pt idx="12">
                  <c:v>260</c:v>
                </c:pt>
                <c:pt idx="13">
                  <c:v>280</c:v>
                </c:pt>
                <c:pt idx="14">
                  <c:v>300</c:v>
                </c:pt>
                <c:pt idx="15">
                  <c:v>320</c:v>
                </c:pt>
                <c:pt idx="16">
                  <c:v>340</c:v>
                </c:pt>
                <c:pt idx="17">
                  <c:v>360</c:v>
                </c:pt>
                <c:pt idx="18">
                  <c:v>380</c:v>
                </c:pt>
                <c:pt idx="19">
                  <c:v>400</c:v>
                </c:pt>
                <c:pt idx="20">
                  <c:v>420</c:v>
                </c:pt>
                <c:pt idx="21">
                  <c:v>440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1.0369999999999999</c:v>
                </c:pt>
                <c:pt idx="1">
                  <c:v>0.82499999999999996</c:v>
                </c:pt>
                <c:pt idx="2">
                  <c:v>0.73099999999999998</c:v>
                </c:pt>
                <c:pt idx="3">
                  <c:v>0.73799999999999999</c:v>
                </c:pt>
                <c:pt idx="4">
                  <c:v>0.72499999999999998</c:v>
                </c:pt>
                <c:pt idx="5">
                  <c:v>0.69199999999999995</c:v>
                </c:pt>
                <c:pt idx="6">
                  <c:v>0.67700000000000005</c:v>
                </c:pt>
                <c:pt idx="7">
                  <c:v>0.67300000000000004</c:v>
                </c:pt>
                <c:pt idx="8">
                  <c:v>0.69799999999999995</c:v>
                </c:pt>
                <c:pt idx="9">
                  <c:v>0.67900000000000005</c:v>
                </c:pt>
                <c:pt idx="10">
                  <c:v>0.63400000000000001</c:v>
                </c:pt>
                <c:pt idx="11">
                  <c:v>0.66</c:v>
                </c:pt>
                <c:pt idx="12">
                  <c:v>0.66400000000000003</c:v>
                </c:pt>
                <c:pt idx="13">
                  <c:v>0.63300000000000001</c:v>
                </c:pt>
                <c:pt idx="14">
                  <c:v>0.61899999999999999</c:v>
                </c:pt>
                <c:pt idx="15">
                  <c:v>0.60599999999999998</c:v>
                </c:pt>
                <c:pt idx="16">
                  <c:v>0.629</c:v>
                </c:pt>
                <c:pt idx="17">
                  <c:v>0.61499999999999999</c:v>
                </c:pt>
                <c:pt idx="18">
                  <c:v>0.61799999999999999</c:v>
                </c:pt>
                <c:pt idx="19">
                  <c:v>0.62</c:v>
                </c:pt>
                <c:pt idx="20">
                  <c:v>0.61499999999999999</c:v>
                </c:pt>
                <c:pt idx="21">
                  <c:v>0.63400000000000001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980-4F2F-89D4-17A48F56C5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QLoRA (4-bit)</c:v>
                </c:pt>
              </c:strCache>
            </c:strRef>
          </c:tx>
          <c:spPr>
            <a:ln w="31750" cap="flat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strRef>
              <c:f>Sheet1!$A$2:$A$23</c:f>
              <c:strCache>
                <c:ptCount val="22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100</c:v>
                </c:pt>
                <c:pt idx="5">
                  <c:v>120</c:v>
                </c:pt>
                <c:pt idx="6">
                  <c:v>140</c:v>
                </c:pt>
                <c:pt idx="7">
                  <c:v>160</c:v>
                </c:pt>
                <c:pt idx="8">
                  <c:v>180</c:v>
                </c:pt>
                <c:pt idx="9">
                  <c:v>200</c:v>
                </c:pt>
                <c:pt idx="10">
                  <c:v>220</c:v>
                </c:pt>
                <c:pt idx="11">
                  <c:v>240</c:v>
                </c:pt>
                <c:pt idx="12">
                  <c:v>260</c:v>
                </c:pt>
                <c:pt idx="13">
                  <c:v>280</c:v>
                </c:pt>
                <c:pt idx="14">
                  <c:v>300</c:v>
                </c:pt>
                <c:pt idx="15">
                  <c:v>320</c:v>
                </c:pt>
                <c:pt idx="16">
                  <c:v>340</c:v>
                </c:pt>
                <c:pt idx="17">
                  <c:v>360</c:v>
                </c:pt>
                <c:pt idx="18">
                  <c:v>380</c:v>
                </c:pt>
                <c:pt idx="19">
                  <c:v>400</c:v>
                </c:pt>
                <c:pt idx="20">
                  <c:v>420</c:v>
                </c:pt>
                <c:pt idx="21">
                  <c:v>440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1.046</c:v>
                </c:pt>
                <c:pt idx="1">
                  <c:v>0.82</c:v>
                </c:pt>
                <c:pt idx="2">
                  <c:v>0.748</c:v>
                </c:pt>
                <c:pt idx="3">
                  <c:v>0.73499999999999999</c:v>
                </c:pt>
                <c:pt idx="4">
                  <c:v>0.69299999999999995</c:v>
                </c:pt>
                <c:pt idx="5">
                  <c:v>0.69799999999999995</c:v>
                </c:pt>
                <c:pt idx="6">
                  <c:v>0.65600000000000003</c:v>
                </c:pt>
                <c:pt idx="7">
                  <c:v>0.66400000000000003</c:v>
                </c:pt>
                <c:pt idx="8">
                  <c:v>0.65</c:v>
                </c:pt>
                <c:pt idx="9">
                  <c:v>0.63800000000000001</c:v>
                </c:pt>
                <c:pt idx="10">
                  <c:v>0.63700000000000001</c:v>
                </c:pt>
                <c:pt idx="11">
                  <c:v>0.622</c:v>
                </c:pt>
                <c:pt idx="12">
                  <c:v>0.63200000000000001</c:v>
                </c:pt>
                <c:pt idx="13">
                  <c:v>0.61499999999999999</c:v>
                </c:pt>
                <c:pt idx="14">
                  <c:v>0.622</c:v>
                </c:pt>
                <c:pt idx="15">
                  <c:v>0.61199999999999999</c:v>
                </c:pt>
                <c:pt idx="16">
                  <c:v>0.59899999999999998</c:v>
                </c:pt>
                <c:pt idx="17">
                  <c:v>0.61299999999999999</c:v>
                </c:pt>
                <c:pt idx="18">
                  <c:v>0.60199999999999998</c:v>
                </c:pt>
                <c:pt idx="19">
                  <c:v>0.60599999999999998</c:v>
                </c:pt>
                <c:pt idx="20">
                  <c:v>0.624</c:v>
                </c:pt>
                <c:pt idx="21">
                  <c:v>0.60499999999999998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6980-4F2F-89D4-17A48F56C5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Perplexity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6D0-4C8C-81A2-3B6B4E3C37C5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D0-4C8C-81A2-3B6B4E3C37C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LoRA (bf16)</c:v>
                </c:pt>
                <c:pt idx="1">
                  <c:v>QLoRA (4-bit)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1.86</c:v>
                </c:pt>
                <c:pt idx="1">
                  <c:v>1.83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6D0-4C8C-81A2-3B6B4E3C37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95"/>
          <c:min val="1.7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139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Qwen3-4B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vs QLoRA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Continual Pre-Training on Vietnamese Legal Corpus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VLSP2025 Legal SLM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Hoang Dinh Quy Vu  |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Setup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LoRA (full-precision) vs QLoRA (4-bit quantized) for continual pre-training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32461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(bf16)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QLoRA (4-bit NF4)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Base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unsloth/Qwen3-4B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unsloth/Qwen3-4B-bnb-4bit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Quantization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(bf16)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4-bit NF4 + double quant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LoRA rank (r)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LoRA alpha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 (scale=1.0)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 (scale=2.0)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Learning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Batch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x 4 = 16 effective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x 2 = 16 effective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Epochs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Total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Scheduler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Vietnamese Legal Corpus (parquet, packed)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QLoRA uses alpha=128 (scale=2.0) to compensate for 4-bit quantization noise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Formulation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749040" cy="1691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Cross-Entropy Loss (CLM)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T</a:t>
            </a:r>
            <a:endParaRPr lang="en-US" sz="1000" dirty="0"/>
          </a:p>
          <a:p>
            <a:pPr marL="0" indent="0" algn="l">
              <a:buNone/>
            </a:pPr>
            <a:r>
              <a:rPr lang="en-US" sz="16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r>
              <a:rPr lang="en-US" sz="100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 − ¹/ᴛ  ∑  log P( x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x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t=1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Language Modeling: predict next token given all previous tokens in the sequence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749040" cy="1691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Perplexity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PPL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 exp( L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2011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PPL = 1.0  :  perfect prediction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PPL &lt; 2.0  :  strong language model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3749040" cy="19202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LoRA (Low-Rank Adaptation)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 W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 +  (α/r) · B A 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7947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frozen pre-trained weights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</a:t>
            </a: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∈ ℝ</a:t>
            </a:r>
            <a:r>
              <a:rPr lang="en-US" sz="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d×r</a:t>
            </a: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,  A </a:t>
            </a:r>
            <a:r>
              <a:rPr lang="en-US" sz="11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∈ ℝ</a:t>
            </a:r>
            <a:r>
              <a:rPr lang="en-US" sz="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r×d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(low-rank matrices)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α/r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scaling factor</a:t>
            </a:r>
            <a:endParaRPr lang="en-US" sz="11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B, A are trained (~2-5% of total params)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3749040" cy="19202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QLoRA (Quantized LoRA)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 Q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NF4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x  +  (α/r) · B A 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37947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NF4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4-bit NormalFloat quantization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stored in 4-bit, computed in bf16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quantization: quantize the quantization constants</a:t>
            </a:r>
            <a:endParaRPr lang="en-US" sz="11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α=128, r=64 → scale=2.0  (vs LoRA scale=1.0)</a:t>
            </a:r>
            <a:endParaRPr lang="en-US" sz="11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scale compensates quantization noise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Curves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 over global steps (logged every 20 steps, 1 epoch)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82296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A33870-B708-67D1-0941-93F3CC75B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083" y="482600"/>
            <a:ext cx="6963833" cy="417829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851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evaluation on held-out Vietnamese legal test 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1645920"/>
          </a:xfrm>
          <a:prstGeom prst="rect">
            <a:avLst/>
          </a:prstGeom>
          <a:solidFill>
            <a:srgbClr val="E0F7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(bf16)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1.86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 |  eval_loss = 0.6197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657600" cy="1645920"/>
          </a:xfrm>
          <a:prstGeom prst="rect">
            <a:avLst/>
          </a:prstGeom>
          <a:solidFill>
            <a:srgbClr val="EDE9FE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(4-bit)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9202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1.83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75488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 |  eval_loss = 0.6034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3291840"/>
            <a:ext cx="365760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PERPLEXITY = BETTER</a:t>
            </a:r>
            <a:endParaRPr lang="en-US" sz="11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1371600" y="3749040"/>
          <a:ext cx="640080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25603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outperforms LoRA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1.83 vs 1.86 despite 4-bit quantization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alpha compensates quantization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alpha=128 (scale=2.0) vs alpha=64 (scale=1.0) helps QLoRA learn stronger updates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convergence speed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converge within ~200 steps, 1 epoch sufficient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25603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737360"/>
          <a:ext cx="3291840" cy="1371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</a:rPr>
                        <a:t>LoRA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</a:rPr>
                        <a:t>QLoRA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VRAM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~14-16 GB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~6-8 GB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Speed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~2421s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~2392s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Quality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PPL 1.86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PPL 1.83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Download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~8 GB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~2.5 GB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31520" y="3931920"/>
            <a:ext cx="7680960" cy="9144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4023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delivers better quality with ~50% less VRAM. The higher alpha (scale=2.0) effectively compensates for quantization noise, making 4-bit training viable for domain-specific CPT.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is the recommended approach for CPT on Qwen3-4B.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achieves lower perplexity (1.83 vs 1.86), uses ~50% less VRAM (~6-8 GB vs ~14-16 GB), and trains at comparable speed. The 4-bit quantization with alpha scaling (2.0) is effective for Vietnamese legal domain adaptation.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3375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33192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QLoRA CPT adapter as base for SFT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5021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best CPT adapter before supervised fine-tuning on downstream legal tasks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776472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776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37581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downstream tasks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394106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MC, NLI, Syllogism benchmarks (ViLawQA) to measure task-specific improvement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4215384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2153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larger models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37997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CPT QLoRA on Qwen3-8B or larger if VRAM-efficient approach confirmed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4654296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46542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46360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training data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8188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Vietnamese legal documents for longer CPT (2-3 epochs)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00200" y="10972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Continual Pre-Training. Further training a pre-trained LLM on domain-specific text to adapt its knowledge.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0200" y="16916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Adaptation. Injects trainable low-rank matrices (B, A) into frozen model weights. Only ~2-5% params trained.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2221992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QLoRA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22860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LoRA. Combines 4-bit NF4 quantization of base weights with LoRA adapters trained in bf16.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816352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28803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NormalFloat 4-bit. Quantization format optimized for normally-distributed neural network weights. 16 discrete levels.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410712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34747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= exp(loss). Measures how well the model predicts the next token. Lower = better. PPL=1.0 is perfect.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005072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0690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0200" y="4069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trainable module added to a frozen model. LoRA adapters are the B and A matrices for each target layer.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1097280"/>
            <a:ext cx="0" cy="356616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1097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bf16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10972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Float 16. 16-bit floating point with 8-bit exponent. Same range as fp32 but half the memory.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1627632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16916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Cosine LR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23560" y="16916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 learning rate scheduler. Decays LR following a cosine curve from initial value to near zero.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221992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2286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23560" y="22860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Concatenating multiple short sequences into one max-length sequence to maximize GPU utilization during training.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816352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2880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 Ckpt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23560" y="28803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Checkpointing. Trades compute for memory by recomputing activations during backward pass instead of storing them.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410712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34747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VRAM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23560" y="34747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RAM. GPU memory used for model weights, activations, gradients, and optimizer states during training.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4005072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40690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PEFT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23560" y="40690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 Fine-Tuning. Family of methods (LoRA, Prefix Tuning, etc.) that train only a small subset of parameters.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911</Words>
  <Application>Microsoft Office PowerPoint</Application>
  <PresentationFormat>On-screen Show (16:9)</PresentationFormat>
  <Paragraphs>151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CPT Qwen3-4B: LoRA vs QLoRA</dc:title>
  <dc:subject>PptxGenJS Presentation</dc:subject>
  <dc:creator>Hoang Dinh Quy Vu</dc:creator>
  <cp:lastModifiedBy>Vũ Hoàng</cp:lastModifiedBy>
  <cp:revision>2</cp:revision>
  <dcterms:created xsi:type="dcterms:W3CDTF">2026-05-20T16:12:11Z</dcterms:created>
  <dcterms:modified xsi:type="dcterms:W3CDTF">2026-05-20T16:15:25Z</dcterms:modified>
</cp:coreProperties>
</file>